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0A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9D8E"/>
                </a:solidFill>
                <a:latin typeface="Segoe UI"/>
              </a:rPr>
              <a:t>CARVERSE MOBILITY · DEALERSHIP GAMIFICATION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1" i="0">
                <a:solidFill>
                  <a:srgbClr val="FFFFFF"/>
                </a:solidFill>
                <a:latin typeface="Segoe UI"/>
              </a:rPr>
              <a:t>CARVERSE</a:t>
            </a:r>
          </a:p>
          <a:p>
            <a:pPr algn="l">
              <a:lnSpc>
                <a:spcPct val="95000"/>
              </a:lnSpc>
            </a:pPr>
            <a:r>
              <a:rPr sz="6600" b="1" i="0">
                <a:solidFill>
                  <a:srgbClr val="FFFFFF"/>
                </a:solidFill>
                <a:latin typeface="Segoe UI"/>
              </a:rPr>
              <a:t>GRAND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8D2DC"/>
                </a:solidFill>
                <a:latin typeface="Segoe UI"/>
              </a:rPr>
              <a:t>Turn the dealership into a team racing game — every booking is a race car,</a:t>
            </a:r>
          </a:p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8D2DC"/>
                </a:solidFill>
                <a:latin typeface="Segoe UI"/>
              </a:rPr>
              <a:t>every department is the pit crew, and delivery is the finish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F4A261"/>
                </a:solidFill>
                <a:latin typeface="Segoe UI"/>
              </a:rPr>
              <a:t>A game people actually want to play — that rewards real progress, not clicks.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Dealership work is invisible, siloed, and unmotivating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A booking crosses 7 departments</a:t>
            </a:r>
            <a:r>
              <a:rPr sz="1700">
                <a:solidFill>
                  <a:srgbClr val="5C6670"/>
                </a:solidFill>
                <a:latin typeface="Segoe UI"/>
              </a:rPr>
              <a:t>  Sales → Finance → Accounts → EDP → PDI → CCM → RTO. Handoffs stall; nobody sees the whole race.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Effort ≠ recognition</a:t>
            </a:r>
            <a:r>
              <a:rPr sz="1700">
                <a:solidFill>
                  <a:srgbClr val="5C6670"/>
                </a:solidFill>
                <a:latin typeface="Segoe UI"/>
              </a:rPr>
              <a:t>  The people who quietly unblock a booking get no credit; loudest ≠ most valuable.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“Employee of the Month” rewards volume</a:t>
            </a:r>
            <a:r>
              <a:rPr sz="1700">
                <a:solidFill>
                  <a:srgbClr val="5C6670"/>
                </a:solidFill>
                <a:latin typeface="Segoe UI"/>
              </a:rPr>
              <a:t>  Not clean, fast, collaborative delivery — the things that actually move the business.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The data already exists</a:t>
            </a:r>
            <a:r>
              <a:rPr sz="1700">
                <a:solidFill>
                  <a:srgbClr val="5C6670"/>
                </a:solidFill>
                <a:latin typeface="Segoe UI"/>
              </a:rPr>
              <a:t>  170k+ real events are logged every 2 months — but none of it motivates anyone.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840480" cy="393192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9D8E"/>
                </a:solidFill>
                <a:latin typeface="Segoe UI"/>
              </a:rPr>
              <a:t>IN THE 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63946"/>
                </a:solidFill>
                <a:latin typeface="Segoe UI"/>
              </a:rPr>
              <a:t>170,162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429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670"/>
                </a:solidFill>
                <a:latin typeface="Segoe UI"/>
              </a:rPr>
              <a:t>EVENTS IN 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404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222E"/>
                </a:solidFill>
                <a:latin typeface="Segoe UI"/>
              </a:rPr>
              <a:t>3,347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6177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670"/>
                </a:solidFill>
                <a:latin typeface="Segoe UI"/>
              </a:rPr>
              <a:t>DISTINCT ACTION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0292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A9D8E"/>
                </a:solidFill>
                <a:latin typeface="Segoe U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8064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670"/>
                </a:solidFill>
                <a:latin typeface="Segoe UI"/>
              </a:rPr>
              <a:t>DEPARTMENTS INVOLVED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Not all actions are equal — most are just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C6670"/>
                </a:solidFill>
                <a:latin typeface="Segoe UI"/>
              </a:rPr>
              <a:t>If you reward every click, the game is instantly broken. We separated signal from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94960" cy="3291840"/>
          </a:xfrm>
          <a:prstGeom prst="round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670"/>
                </a:solidFill>
                <a:latin typeface="Segoe UI"/>
              </a:rPr>
              <a:t>❌  NOISE — scores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USER_LOGGED_IN</a:t>
            </a:r>
            <a:r>
              <a:rPr sz="1400">
                <a:solidFill>
                  <a:srgbClr val="5C6670"/>
                </a:solidFill>
                <a:latin typeface="Segoe UI"/>
              </a:rPr>
              <a:t>  27,764× — trivial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DISCOUNT_UPDATED</a:t>
            </a:r>
            <a:r>
              <a:rPr sz="1400">
                <a:solidFill>
                  <a:srgbClr val="5C6670"/>
                </a:solidFill>
                <a:latin typeface="Segoe UI"/>
              </a:rPr>
              <a:t>  9,188× — just an edit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PDI_INFO_UPDATED</a:t>
            </a:r>
            <a:r>
              <a:rPr sz="1400">
                <a:solidFill>
                  <a:srgbClr val="5C6670"/>
                </a:solidFill>
                <a:latin typeface="Segoe UI"/>
              </a:rPr>
              <a:t>  8,428× — internal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FINANCE_INFO_UPDATED</a:t>
            </a:r>
            <a:r>
              <a:rPr sz="1400">
                <a:solidFill>
                  <a:srgbClr val="5C6670"/>
                </a:solidFill>
                <a:latin typeface="Segoe UI"/>
              </a:rPr>
              <a:t>  5,588× — effort, not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60320"/>
            <a:ext cx="5394960" cy="32918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✅  MILESTONES —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BOOKING_CREATED</a:t>
            </a:r>
            <a:r>
              <a:rPr sz="1400">
                <a:solidFill>
                  <a:srgbClr val="5C6670"/>
                </a:solidFill>
                <a:latin typeface="Segoe UI"/>
              </a:rPr>
              <a:t>  a real business event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DISCOUNT_APPROVED</a:t>
            </a:r>
            <a:r>
              <a:rPr sz="1400">
                <a:solidFill>
                  <a:srgbClr val="5C6670"/>
                </a:solidFill>
                <a:latin typeface="Segoe UI"/>
              </a:rPr>
              <a:t>  pricing finalized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INVOICE_APPROVED_EDP</a:t>
            </a:r>
            <a:r>
              <a:rPr sz="1400">
                <a:solidFill>
                  <a:srgbClr val="5C6670"/>
                </a:solidFill>
                <a:latin typeface="Segoe UI"/>
              </a:rPr>
              <a:t>  billing complete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222E"/>
                </a:solidFill>
                <a:latin typeface="Segoe UI"/>
              </a:rPr>
              <a:t>▸ GATEPASS_ISSUED</a:t>
            </a:r>
            <a:r>
              <a:rPr sz="1400">
                <a:solidFill>
                  <a:srgbClr val="5C6670"/>
                </a:solidFill>
                <a:latin typeface="Segoe UI"/>
              </a:rPr>
              <a:t>  vehicle delivered 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3946"/>
                </a:solidFill>
                <a:latin typeface="Segoe UI"/>
              </a:rPr>
              <a:t>Result: 78% of all 170,162 events earn ZERO points. We only pay for crossings.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Every booking is a race car.</a:t>
            </a:r>
          </a:p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Every department is the pit crew.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2606040" cy="2377440"/>
          </a:xfrm>
          <a:prstGeom prst="roundRect">
            <a:avLst/>
          </a:prstGeom>
          <a:solidFill>
            <a:srgbClr val="1F2E3D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A261"/>
                </a:solidFill>
                <a:latin typeface="Segoe UI"/>
              </a:rPr>
              <a:t>🏁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2DC"/>
                </a:solidFill>
                <a:latin typeface="Segoe UI"/>
              </a:rPr>
              <a:t>The car enters the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926080"/>
            <a:ext cx="2606040" cy="2377440"/>
          </a:xfrm>
          <a:prstGeom prst="roundRect">
            <a:avLst/>
          </a:prstGeom>
          <a:solidFill>
            <a:srgbClr val="1F2E3D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A261"/>
                </a:solidFill>
                <a:latin typeface="Segoe UI"/>
              </a:rPr>
              <a:t>🔧 EACH DEPT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690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2DC"/>
                </a:solidFill>
                <a:latin typeface="Segoe UI"/>
              </a:rPr>
              <a:t>does its milestone → car moves a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2606040" cy="2377440"/>
          </a:xfrm>
          <a:prstGeom prst="roundRect">
            <a:avLst/>
          </a:prstGeom>
          <a:solidFill>
            <a:srgbClr val="1F2E3D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A261"/>
                </a:solidFill>
                <a:latin typeface="Segoe UI"/>
              </a:rPr>
              <a:t>⚡ CLEAN +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2DC"/>
                </a:solidFill>
                <a:latin typeface="Segoe UI"/>
              </a:rPr>
              <a:t>= speed &amp; clean multipliers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926080"/>
            <a:ext cx="2606040" cy="2377440"/>
          </a:xfrm>
          <a:prstGeom prst="roundRect">
            <a:avLst/>
          </a:prstGeom>
          <a:solidFill>
            <a:srgbClr val="1F2E3D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2461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A261"/>
                </a:solidFill>
                <a:latin typeface="Segoe UI"/>
              </a:rPr>
              <a:t>🏆 DELIVERED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06908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2DC"/>
                </a:solidFill>
                <a:latin typeface="Segoe UI"/>
              </a:rPr>
              <a:t>car crosses the line → team payout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0A9D8E"/>
                </a:solidFill>
                <a:latin typeface="Segoe UI"/>
              </a:rPr>
              <a:t>Nobody wins the finish line alone — the delivery bonus is split across every department that touched the 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GAME DESIGN · THE CORE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What a player does, earns, and comes back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46304" cy="658368"/>
          </a:xfrm>
          <a:prstGeom prst="roundRect">
            <a:avLst/>
          </a:prstGeom>
          <a:solidFill>
            <a:srgbClr val="0A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A9D8E"/>
                </a:solidFill>
                <a:latin typeface="Segoe UI"/>
              </a:rPr>
              <a:t>1 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22E"/>
                </a:solidFill>
                <a:latin typeface="Segoe UI"/>
              </a:rPr>
              <a:t>Complete a real milestone on a 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46304" cy="658368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3946"/>
                </a:solidFill>
                <a:latin typeface="Segoe UI"/>
              </a:rPr>
              <a:t>2 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22E"/>
                </a:solidFill>
                <a:latin typeface="Segoe UI"/>
              </a:rPr>
              <a:t>You + your department + your branch all earn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146304" cy="65836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4A261"/>
                </a:solidFill>
                <a:latin typeface="Segoe UI"/>
              </a:rPr>
              <a:t>3  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566160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22E"/>
                </a:solidFill>
                <a:latin typeface="Segoe UI"/>
              </a:rPr>
              <a:t>Speed × Clean multipliers reward fast, rework-free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146304" cy="658368"/>
          </a:xfrm>
          <a:prstGeom prst="roundRect">
            <a:avLst/>
          </a:prstGeom>
          <a:solidFill>
            <a:srgbClr val="0A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A9D8E"/>
                </a:solidFill>
                <a:latin typeface="Segoe UI"/>
              </a:rPr>
              <a:t>4 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389120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22E"/>
                </a:solidFill>
                <a:latin typeface="Segoe UI"/>
              </a:rPr>
              <a:t>Escrow releases + co-op bonus splits across the pit crew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46304" cy="658368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1208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3946"/>
                </a:solidFill>
                <a:latin typeface="Segoe UI"/>
              </a:rPr>
              <a:t>5  COMPETE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212080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22E"/>
                </a:solidFill>
                <a:latin typeface="Segoe UI"/>
              </a:rPr>
              <a:t>Weekly branch league · quests · boss battles · seasons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670"/>
                </a:solidFill>
                <a:latin typeface="Segoe UI"/>
              </a:rPr>
              <a:t>Progression is by clean, collaborative behaviour — not raw revenue — so the game stays fair and fun for months.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GAME DESIGN ·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It's a real game — not a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🧑 Racers &amp;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Every employee is a player who earns XP and levels up a reputation.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👥 Teams &amp; Pit Crews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Departments and branches form squads with shared goals.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🎯 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6974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“Deliver 800 cars with zero rework” — live, trackable 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👹 Boss Battles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Weekly raids vs “The Bottleneck” — damage = clean deliveries.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6908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🏢 Branch League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24 branches race head-to-head every week; the table resets each season.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069080"/>
            <a:ext cx="3474720" cy="1920240"/>
          </a:xfrm>
          <a:prstGeom prst="roundRect">
            <a:avLst/>
          </a:prstGeom>
          <a:solidFill>
            <a:srgbClr val="E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9D8E"/>
                </a:solidFill>
                <a:latin typeface="Segoe UI"/>
              </a:rPr>
              <a:t>🏅 Rewards &amp; Podium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8463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2E"/>
                </a:solidFill>
                <a:latin typeface="Segoe UI"/>
              </a:rPr>
              <a:t>Medals, streaks, and real perks tied to the leaderboard.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DELIVERABLE · ACTION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The 16 scored actions + 2 derived (under the 20 cap)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657600"/>
                <a:gridCol w="3840480"/>
                <a:gridCol w="1828800"/>
                <a:gridCol w="731520"/>
              </a:tblGrid>
              <a:tr h="2635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ACTION CODE</a:t>
                      </a:r>
                    </a:p>
                  </a:txBody>
                  <a:tcPr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DEPT</a:t>
                      </a:r>
                    </a:p>
                  </a:txBody>
                  <a:tcPr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>
                    <a:solidFill>
                      <a:srgbClr val="16222E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63946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GATEPASS_ISSUED_BY_ACCOUNTS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Vehicle cleared for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A261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CREDIT_APPROVED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Payment verified &amp; credited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ACCOUNTS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A261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INVOICE_APPROVED_EDP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Invoice billing finalized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EDP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A261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INSURANCE_APPROVED_BY_CCM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Insurance approved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CUSTOMER CARE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A261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REGISTRATION_ADDED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Registration filed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EDP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BOOKING_CREATED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Booking created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DOCUMENT_SET_COMPLETED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Full document set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PDI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FINANCE_STAGE_CLEARED *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Finance cleared, booking advanced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FINANCE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DISCOUNT_APPROVED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Pricing finalized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INVOICE_APPROVED_SALES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Sales invoice signed off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RGISTRATION_APPROVED_SALES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Registration approved (sales)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RGISTRATION_CREATED_EDP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Registration processed (EDP)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EDP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RTO_REQUEST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RTO registration initiated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PDI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DISPATCH_BY_PDI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Vehicle inspected &amp; dispatched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PDI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  <a:tr h="2635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DISPATCH_BY_CCM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Delivery dispatch coordinated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CUSTOMER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GATEPASS_BY_CCM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Gatepass cleared (CCM)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22E"/>
                          </a:solidFill>
                          <a:latin typeface="Segoe UI"/>
                        </a:rPr>
                        <a:t>CUSTOMER CARE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9D8E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C6670"/>
                </a:solidFill>
                <a:latin typeface="Segoe UI"/>
              </a:rPr>
              <a:t>* derived milestone (e.g. full document set completed) — gamify the outcome, not each upload.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DELIVERABLE · ANTI-GAMING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Six guardrails so the system can't be farmed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1 · Milestones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Updates, logins, notes = 0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2 · Once per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Each milestone scores a single time per 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3 · Delivery escrow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40% of points are held until the car actually delivers.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4 · Net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862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Cancelled (−50) &amp; dormant bookings reverse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5 · Rework 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Escalation loops shrink the clean-multiplier to 0.6×.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634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006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3946"/>
                </a:solidFill>
                <a:latin typeface="Segoe UI"/>
              </a:rPr>
              <a:t>6 · Co-op payout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57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670"/>
                </a:solidFill>
                <a:latin typeface="Segoe UI"/>
              </a:rPr>
              <a:t>Delivery bonus splits across depts — no solo farming.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16222E"/>
                </a:solidFill>
                <a:latin typeface="Segoe UI"/>
              </a:rPr>
              <a:t>“If a user repeats an action 50× a day, do they get 50× points?”  →  No. That's the test we built for.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TEAM COLLABORATION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You can't win the finish line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675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6222E"/>
                </a:solidFill>
                <a:latin typeface="Segoe UI"/>
              </a:rPr>
              <a:t>▸ Co-op delivery payout</a:t>
            </a:r>
            <a:r>
              <a:rPr sz="1600">
                <a:solidFill>
                  <a:srgbClr val="5C6670"/>
                </a:solidFill>
                <a:latin typeface="Segoe UI"/>
              </a:rPr>
              <a:t>  Every delivered car pays a bonus split across ALL departments that cleanly touched it — weighted by contribution.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6222E"/>
                </a:solidFill>
                <a:latin typeface="Segoe UI"/>
              </a:rPr>
              <a:t>▸ Relay bonuses</a:t>
            </a:r>
            <a:r>
              <a:rPr sz="1600">
                <a:solidFill>
                  <a:srgbClr val="5C6670"/>
                </a:solidFill>
                <a:latin typeface="Segoe UI"/>
              </a:rPr>
              <a:t>  Fast, clean handoffs between departments (e.g. Finance → Accounts) earn extra multipliers.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6222E"/>
                </a:solidFill>
                <a:latin typeface="Segoe UI"/>
              </a:rPr>
              <a:t>▸ Branch as a squad</a:t>
            </a:r>
            <a:r>
              <a:rPr sz="1600">
                <a:solidFill>
                  <a:srgbClr val="5C6670"/>
                </a:solidFill>
                <a:latin typeface="Segoe UI"/>
              </a:rPr>
              <a:t>  24 branches compete as teams in a weekly league — one slow department drags the whole branch down.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6222E"/>
                </a:solidFill>
                <a:latin typeface="Segoe UI"/>
              </a:rPr>
              <a:t>▸ Boss battles are raids</a:t>
            </a:r>
            <a:r>
              <a:rPr sz="1600">
                <a:solidFill>
                  <a:srgbClr val="5C6670"/>
                </a:solidFill>
                <a:latin typeface="Segoe UI"/>
              </a:rPr>
              <a:t>  The weekly boss can only be beaten by multiple departments coordinating deliveries.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840480" cy="3931920"/>
          </a:xfrm>
          <a:prstGeom prst="round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9D8E"/>
                </a:solidFill>
                <a:latin typeface="Segoe UI"/>
              </a:rPr>
              <a:t>WHY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743200"/>
            <a:ext cx="32918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 sales rep is now incentivised to help Finance unblock a loan — because the delivery bonus only lands when the WHOLE car crosses the line.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Selfish behaviour literally scores 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PROVEN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Not a mockup — scored on the actual May–Jun 2026 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371600"/>
          </a:xfrm>
          <a:prstGeom prst="round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6222E"/>
                </a:solidFill>
                <a:latin typeface="Segoe UI"/>
              </a:rPr>
              <a:t>3,800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C6670"/>
                </a:solidFill>
                <a:latin typeface="Segoe UI"/>
              </a:rPr>
              <a:t>BOOKINGS RACED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1371600"/>
          </a:xfrm>
          <a:prstGeom prst="round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A9D8E"/>
                </a:solidFill>
                <a:latin typeface="Segoe UI"/>
              </a:rPr>
              <a:t>1,578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C6670"/>
                </a:solidFill>
                <a:latin typeface="Segoe UI"/>
              </a:rPr>
              <a:t>DELIVERED 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1371600"/>
          </a:xfrm>
          <a:prstGeom prst="round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63946"/>
                </a:solidFill>
                <a:latin typeface="Segoe UI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C6670"/>
                </a:solidFill>
                <a:latin typeface="Segoe UI"/>
              </a:rPr>
              <a:t>NOISE IGNORED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606040" cy="1371600"/>
          </a:xfrm>
          <a:prstGeom prst="round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659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4A261"/>
                </a:solidFill>
                <a:latin typeface="Segoe UI"/>
              </a:rPr>
              <a:t>408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C6670"/>
                </a:solidFill>
                <a:latin typeface="Segoe UI"/>
              </a:rPr>
              <a:t>PLAYERS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TOP RACERS (individual points)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1. MANOJ KUMAR B R</a:t>
            </a:r>
            <a:r>
              <a:rPr sz="1300">
                <a:solidFill>
                  <a:srgbClr val="5C6670"/>
                </a:solidFill>
                <a:latin typeface="Segoe UI"/>
              </a:rPr>
              <a:t>  PDI · 76,765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2. JYOTHILAKSHMI C</a:t>
            </a:r>
            <a:r>
              <a:rPr sz="1300">
                <a:solidFill>
                  <a:srgbClr val="5C6670"/>
                </a:solidFill>
                <a:latin typeface="Segoe UI"/>
              </a:rPr>
              <a:t>  ACCOUNTS · 37,439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3. S HEMAVATHI</a:t>
            </a:r>
            <a:r>
              <a:rPr sz="1300">
                <a:solidFill>
                  <a:srgbClr val="5C6670"/>
                </a:solidFill>
                <a:latin typeface="Segoe UI"/>
              </a:rPr>
              <a:t>  EDP · 36,350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4. KARTHIK S</a:t>
            </a:r>
            <a:r>
              <a:rPr sz="1300">
                <a:solidFill>
                  <a:srgbClr val="5C6670"/>
                </a:solidFill>
                <a:latin typeface="Segoe UI"/>
              </a:rPr>
              <a:t>  ACCOUNTS · 35,053 pts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5. ASHWINI RAI MITCHELL</a:t>
            </a:r>
            <a:r>
              <a:rPr sz="1300">
                <a:solidFill>
                  <a:srgbClr val="5C6670"/>
                </a:solidFill>
                <a:latin typeface="Segoe UI"/>
              </a:rPr>
              <a:t>  CUSTOMER CARE · 30,477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BRANCH GRAND PRIX (% delivered)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1. YESHWANTHAPURA</a:t>
            </a:r>
            <a:r>
              <a:rPr sz="1300">
                <a:solidFill>
                  <a:srgbClr val="5C6670"/>
                </a:solidFill>
                <a:latin typeface="Segoe UI"/>
              </a:rPr>
              <a:t>  68.2% delivered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2. YELAHANKA</a:t>
            </a:r>
            <a:r>
              <a:rPr sz="1300">
                <a:solidFill>
                  <a:srgbClr val="5C6670"/>
                </a:solidFill>
                <a:latin typeface="Segoe UI"/>
              </a:rPr>
              <a:t>  49.0% delivered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3. CHIKKABALLAPURA NEXA</a:t>
            </a:r>
            <a:r>
              <a:rPr sz="1300">
                <a:solidFill>
                  <a:srgbClr val="5C6670"/>
                </a:solidFill>
                <a:latin typeface="Segoe UI"/>
              </a:rPr>
              <a:t>  47.8% delivered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4. NAGARABHAVI</a:t>
            </a:r>
            <a:r>
              <a:rPr sz="1300">
                <a:solidFill>
                  <a:srgbClr val="5C6670"/>
                </a:solidFill>
                <a:latin typeface="Segoe UI"/>
              </a:rPr>
              <a:t>  46.8% delivered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6222E"/>
                </a:solidFill>
                <a:latin typeface="Segoe UI"/>
              </a:rPr>
              <a:t>▸ 5. HOSKOTE</a:t>
            </a:r>
            <a:r>
              <a:rPr sz="1300">
                <a:solidFill>
                  <a:srgbClr val="5C6670"/>
                </a:solidFill>
                <a:latin typeface="Segoe UI"/>
              </a:rPr>
              <a:t>  44.9% 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BUILT TO 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22E"/>
                </a:solidFill>
                <a:latin typeface="Segoe UI"/>
              </a:rPr>
              <a:t>Sustainable for months of live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Seasons reset the race</a:t>
            </a:r>
            <a:r>
              <a:rPr sz="1700">
                <a:solidFill>
                  <a:srgbClr val="5C6670"/>
                </a:solidFill>
                <a:latin typeface="Segoe UI"/>
              </a:rPr>
              <a:t>  Weekly &amp; monthly leagues mean no single star runs away with it — everyone starts fresh.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Rewards clean behaviour, not burnout</a:t>
            </a:r>
            <a:r>
              <a:rPr sz="1700">
                <a:solidFill>
                  <a:srgbClr val="5C6670"/>
                </a:solidFill>
                <a:latin typeface="Segoe UI"/>
              </a:rPr>
              <a:t>  Speed is bonus, not the base; quality and collaboration are what compound.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Self-balancing against gaming</a:t>
            </a:r>
            <a:r>
              <a:rPr sz="1700">
                <a:solidFill>
                  <a:srgbClr val="5C6670"/>
                </a:solidFill>
                <a:latin typeface="Segoe UI"/>
              </a:rPr>
              <a:t>  Escrow + net-progress + once-per-booking mean exploits simply don't pay.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Plugs into existing data</a:t>
            </a:r>
            <a:r>
              <a:rPr sz="1700">
                <a:solidFill>
                  <a:srgbClr val="5C6670"/>
                </a:solidFill>
                <a:latin typeface="Segoe UI"/>
              </a:rPr>
              <a:t>  Runs directly on the event log the dealership already produces — zero new tracking.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6222E"/>
                </a:solidFill>
                <a:latin typeface="Segoe UI"/>
              </a:rPr>
              <a:t>▸ Fully tunable</a:t>
            </a:r>
            <a:r>
              <a:rPr sz="1700">
                <a:solidFill>
                  <a:srgbClr val="5C6670"/>
                </a:solidFill>
                <a:latin typeface="Segoe UI"/>
              </a:rPr>
              <a:t>  All 20 actions, weights, and multipliers live in one config — easy to rebalance.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670"/>
                </a:solidFill>
                <a:latin typeface="Segoe UI"/>
              </a:rPr>
              <a:t>CARVERSE GRAND PRIX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6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9D8E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See it running on the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▸ Interactive dashboard</a:t>
            </a:r>
            <a:r>
              <a:rPr sz="1700">
                <a:solidFill>
                  <a:srgbClr val="5C6670"/>
                </a:solidFill>
                <a:latin typeface="Segoe UI"/>
              </a:rPr>
              <a:t>  Branch race track, live leaderboards, quests, boss battle &amp; anti-gaming proof.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▸ Every number is real</a:t>
            </a:r>
            <a:r>
              <a:rPr sz="1700">
                <a:solidFill>
                  <a:srgbClr val="5C6670"/>
                </a:solidFill>
                <a:latin typeface="Segoe UI"/>
              </a:rPr>
              <a:t>  Computed by our scoring engine from all 170,162 logged events.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▸ Two artifacts</a:t>
            </a:r>
            <a:r>
              <a:rPr sz="1700">
                <a:solidFill>
                  <a:srgbClr val="5C6670"/>
                </a:solidFill>
                <a:latin typeface="Segoe UI"/>
              </a:rPr>
              <a:t>  A one-file web app (carverse.html) + this deck — both from one Python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A261"/>
                </a:solidFill>
                <a:latin typeface="Consolas"/>
              </a:rPr>
              <a:t>› scoring_engine.py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A261"/>
                </a:solidFill>
                <a:latin typeface="Consolas"/>
              </a:rPr>
              <a:t>› build_site.py → carverse.html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A261"/>
                </a:solidFill>
                <a:latin typeface="Consolas"/>
              </a:rPr>
              <a:t>› make_deck.py → this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601968"/>
            <a:ext cx="12191695" cy="256032"/>
          </a:xfrm>
          <a:prstGeom prst="roundRect">
            <a:avLst/>
          </a:prstGeom>
          <a:solidFill>
            <a:srgbClr val="0A9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6222E"/>
                </a:solidFill>
                <a:latin typeface="Segoe UI"/>
              </a:rPr>
              <a:t>Make the dealership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6222E"/>
                </a:solidFill>
                <a:latin typeface="Segoe UI"/>
              </a:rPr>
              <a:t>a game worth winning.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C6670"/>
                </a:solidFill>
                <a:latin typeface="Segoe UI"/>
              </a:rPr>
              <a:t>CARVERSE GRAND PRIX — rewards real progress, forces collaboration, can't be farmed.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3946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