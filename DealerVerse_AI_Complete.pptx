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7315200" cy="868680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0" y="822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91440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CarVerse Mobility Technologies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Dealership Gamification Hackathon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Build a Game for a Real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PRESENTING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DealerVerse </a:t>
            </a:r>
            <a:r>
              <a:rPr sz="6200" b="1">
                <a:solidFill>
                  <a:srgbClr val="7C5CFF"/>
                </a:solidFill>
                <a:latin typeface="Segoe UI Semibold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A78BFA"/>
                </a:solidFill>
                <a:latin typeface="Segoe UI Light"/>
              </a:rPr>
              <a:t>Level Up Your Dealership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262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69CB6"/>
                </a:solidFill>
                <a:latin typeface="Segoe UI"/>
              </a:rPr>
              <a:t>A gamification platform that turns real dealership work into a game — employees earn XP, ranks, missions and team bonuses just by doing their jobs. Built end-to-end on the real 170,162-event dataset. No fake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26517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79007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5CFF"/>
                </a:solidFill>
                <a:latin typeface="Segoe UI"/>
              </a:rPr>
              <a:t>7 Departments gamified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79" y="5760720"/>
            <a:ext cx="26517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779007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Segoe UI"/>
              </a:rPr>
              <a:t>≤20 scoring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760720"/>
            <a:ext cx="26517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779007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Anti-gaming by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5760720"/>
            <a:ext cx="26517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5779007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Full C2B2C buy/sell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React · Vite · Tailwind · Framer Motion · Recharts · Zustand   ·   16 live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The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AF2"/>
                </a:solidFill>
                <a:latin typeface="Segoe UI"/>
              </a:rPr>
              <a:t>“Design a game that motivates people at a car dealership to perform better at their jobs, using real activity data — a game people will </a:t>
            </a:r>
            <a:r>
              <a:rPr sz="1500" b="1">
                <a:solidFill>
                  <a:srgbClr val="A78BFA"/>
                </a:solidFill>
                <a:latin typeface="Segoe UI"/>
              </a:rPr>
              <a:t>actually want to play</a:t>
            </a:r>
            <a:r>
              <a:rPr sz="1500" b="0">
                <a:solidFill>
                  <a:srgbClr val="E8EAF2"/>
                </a:solidFill>
                <a:latin typeface="Segoe UI"/>
              </a:rPr>
              <a:t> while doing their job.”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WHAT WE MUST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Motivate individuals &amp; teams  </a:t>
            </a:r>
            <a:r>
              <a:rPr sz="1350">
                <a:solidFill>
                  <a:srgbClr val="E8EAF2"/>
                </a:solidFill>
                <a:latin typeface="Segoe UI"/>
              </a:rPr>
              <a:t>to move enquiries → bookings → delivery faster.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Separate signal from noise  </a:t>
            </a:r>
            <a:r>
              <a:rPr sz="1350">
                <a:solidFill>
                  <a:srgbClr val="E8EAF2"/>
                </a:solidFill>
                <a:latin typeface="Segoe UI"/>
              </a:rPr>
              <a:t>reward real progress, not data edits.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Encourage collaboration  </a:t>
            </a:r>
            <a:r>
              <a:rPr sz="1350">
                <a:solidFill>
                  <a:srgbClr val="E8EAF2"/>
                </a:solidFill>
                <a:latin typeface="Segoe UI"/>
              </a:rPr>
              <a:t>across departments through the lifecycle.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Be un-gameable  </a:t>
            </a:r>
            <a:r>
              <a:rPr sz="1350">
                <a:solidFill>
                  <a:srgbClr val="E8EAF2"/>
                </a:solidFill>
                <a:latin typeface="Segoe UI"/>
              </a:rPr>
              <a:t>repeating an action 50× must not pay 50×.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HARD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Max 20 actions  </a:t>
            </a:r>
            <a:r>
              <a:rPr sz="1350">
                <a:solidFill>
                  <a:srgbClr val="E8EAF2"/>
                </a:solidFill>
                <a:latin typeface="Segoe UI"/>
              </a:rPr>
              <a:t>may be used for scoring — force real prioritisation.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Map to real workflow  </a:t>
            </a:r>
            <a:r>
              <a:rPr sz="1350">
                <a:solidFill>
                  <a:srgbClr val="E8EAF2"/>
                </a:solidFill>
                <a:latin typeface="Segoe UI"/>
              </a:rPr>
              <a:t>the actual booking → delivery pipeline.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Sustainable for months  </a:t>
            </a:r>
            <a:r>
              <a:rPr sz="1350">
                <a:solidFill>
                  <a:srgbClr val="E8EAF2"/>
                </a:solidFill>
                <a:latin typeface="Segoe UI"/>
              </a:rPr>
              <a:t>must survive a live dealership, not just a demo.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350" b="1">
                <a:solidFill>
                  <a:srgbClr val="FFFFFF"/>
                </a:solidFill>
                <a:latin typeface="Segoe UI"/>
              </a:rPr>
              <a:t>Key message  </a:t>
            </a:r>
            <a:r>
              <a:rPr sz="1350">
                <a:solidFill>
                  <a:srgbClr val="E8EAF2"/>
                </a:solidFill>
                <a:latin typeface="Segoe UI"/>
              </a:rPr>
              <a:t>“if your game rewards the wrong behaviour, it will fail.”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SCORED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Judging Criteria → How DealerVerse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850542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268595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0622" y="1828800"/>
            <a:ext cx="1045198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2062" y="1828800"/>
            <a:ext cx="88060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Weight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821" y="1828800"/>
            <a:ext cx="7031338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261" y="1828800"/>
            <a:ext cx="68667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Our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12848"/>
            <a:ext cx="2850542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12848"/>
            <a:ext cx="26859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Game Design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0622" y="2212848"/>
            <a:ext cx="104519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2062" y="2212848"/>
            <a:ext cx="88060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821" y="2212848"/>
            <a:ext cx="703133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7261" y="2212848"/>
            <a:ext cx="68667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Full loop: XP → levels → ranks → missions → badges → leaderboards, per department.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71215"/>
            <a:ext cx="2850542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2871215"/>
            <a:ext cx="26859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Real-world relevance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0622" y="2871215"/>
            <a:ext cx="1045198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2062" y="2871215"/>
            <a:ext cx="88060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821" y="2871215"/>
            <a:ext cx="7031338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7261" y="2871215"/>
            <a:ext cx="68667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Every point is computed from the real 170k-event log; 7 real departments.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29583"/>
            <a:ext cx="2850542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3529583"/>
            <a:ext cx="26859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Anti-gaming robustness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0622" y="3529583"/>
            <a:ext cx="104519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2062" y="3529583"/>
            <a:ext cx="88060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5821" y="3529583"/>
            <a:ext cx="703133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7261" y="3529583"/>
            <a:ext cx="68667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Once-per-booking scoring; 77.6% of events earn 0; outcomes &gt;&gt; updates.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87951"/>
            <a:ext cx="2850542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4187951"/>
            <a:ext cx="26859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Team collaboration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0622" y="4187951"/>
            <a:ext cx="1045198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2062" y="4187951"/>
            <a:ext cx="88060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5821" y="4187951"/>
            <a:ext cx="7031338" cy="6583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7261" y="4187951"/>
            <a:ext cx="68667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Team-bonus mechanic pays every dept that moved a delivered car (+25 XP each).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846319"/>
            <a:ext cx="2850542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4846319"/>
            <a:ext cx="26859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Creativity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0622" y="4846319"/>
            <a:ext cx="104519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82062" y="4846319"/>
            <a:ext cx="88060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5821" y="4846319"/>
            <a:ext cx="7031338" cy="6583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7261" y="4846319"/>
            <a:ext cx="68667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 playable app + a full C2B2C buy/sell marketplace layered on the workflow.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Every weighted criterion maps to a concrete, shipped mechanic — nothing is aspirational.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One Platform, Real Work Becomes a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69CB6"/>
                </a:solidFill>
                <a:latin typeface="Segoe UI"/>
              </a:rPr>
              <a:t>Employees log in and do their normal jobs. DealerVerse reads the dealership event stream, scores only the milestones that move a car forward, and instantly turns that into XP, ranks, missions and team bonuses.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9992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0E1A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49039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Do the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97680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A booking is created, a loan cleared, a car inspected, a gatepass issued.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9992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01752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0E1A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749039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Earn instantly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4297680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Meaningful milestones award XP to the real person who did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29992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01752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0E1A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49039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Level &amp; rank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297680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XP fills your level; per-department ladders promote you Rookie → Legend.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39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2871" y="29992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1" y="301752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0E1A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1" y="3749039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Compete &amp; collaborate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1" y="4297680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Leaderboards, daily missions, streaks, and cross-dept team bonuses.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The gameplay loop is short, honest, and repeats every working day — that is what keeps it fun.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GROUNDED IN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Built on the Real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13716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75104"/>
            <a:ext cx="2304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7C5CFF"/>
                </a:solidFill>
                <a:latin typeface="Segoe UI Semibold"/>
              </a:rPr>
              <a:t>170,162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Real events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May–Jun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82296" cy="13716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975104"/>
            <a:ext cx="2304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2C55E"/>
                </a:solidFill>
                <a:latin typeface="Segoe UI Semibold"/>
              </a:rPr>
              <a:t>3,800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Bookings tracked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location + enquiry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975104"/>
            <a:ext cx="2304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8BDF8"/>
                </a:solidFill>
                <a:latin typeface="Segoe UI Semibold"/>
              </a:rPr>
              <a:t>305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Active players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with live XP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8288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39" y="1828800"/>
            <a:ext cx="8229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1" y="1975104"/>
            <a:ext cx="2304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59E0B"/>
                </a:solidFill>
                <a:latin typeface="Segoe UI Semibold"/>
              </a:rPr>
              <a:t>41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Locations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branch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SIX CORE FIELDS PER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USER  ·  who performed the action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DEPARTMENT  ·  which of the real teams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ACTION  ·  3,347 distinct action types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BOOKING  ·  location_code + enquiry_no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TIME  ·  timestamp for streaks &amp; weekly series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LOCATION  ·  branch, for league standings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204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THREE REAL SOURCE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605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z_event_log_may_june_2026.csv  </a:t>
            </a:r>
            <a:r>
              <a:rPr sz="1250">
                <a:solidFill>
                  <a:srgbClr val="E8EAF2"/>
                </a:solidFill>
                <a:latin typeface="Segoe UI"/>
              </a:rPr>
              <a:t>— 170,162 rows of raw activity.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z_employees.csv  </a:t>
            </a:r>
            <a:r>
              <a:rPr sz="1250">
                <a:solidFill>
                  <a:srgbClr val="E8EAF2"/>
                </a:solidFill>
                <a:latin typeface="Segoe UI"/>
              </a:rPr>
              <a:t>— names, departments, designations, managers, branch.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z_locations.csv  </a:t>
            </a:r>
            <a:r>
              <a:rPr sz="1250">
                <a:solidFill>
                  <a:srgbClr val="E8EAF2"/>
                </a:solidFill>
                <a:latin typeface="Segoe UI"/>
              </a:rPr>
              <a:t>— location codes → branch names.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2356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69CB6"/>
                </a:solidFill>
                <a:latin typeface="Segoe UI"/>
              </a:rPr>
              <a:t>Processed once by </a:t>
            </a:r>
            <a:r>
              <a:rPr sz="1200" b="1">
                <a:solidFill>
                  <a:srgbClr val="E8EAF2"/>
                </a:solidFill>
                <a:latin typeface="Segoe UI"/>
              </a:rPr>
              <a:t>scripts/build-data.mjs</a:t>
            </a:r>
            <a:r>
              <a:rPr sz="1200" b="0">
                <a:solidFill>
                  <a:srgbClr val="969CB6"/>
                </a:solidFill>
                <a:latin typeface="Segoe UI"/>
              </a:rPr>
              <a:t> into a compact JSON the app loads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ANTI-GAMING · PRINCIPLE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Signal vs Noise: 77.6% of Events Earn 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969CB6"/>
                </a:solidFill>
                <a:latin typeface="Segoe UI"/>
              </a:rPr>
              <a:t>The dataset is dominated by trivial, repeatable events. Rewarding them would break the game. We reward only what moves a booking forward.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43F5E"/>
                </a:solidFill>
                <a:latin typeface="Segoe UI"/>
              </a:rPr>
              <a:t>NOISE — SCORED AT 0 XP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46120"/>
            <a:ext cx="3497580" cy="3840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High-frequency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1980" y="3246120"/>
            <a:ext cx="1440180" cy="3840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3420" y="3246120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30168"/>
            <a:ext cx="34975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30168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USER_LOGGED_IN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1980" y="3630168"/>
            <a:ext cx="14401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3420" y="3630168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27,764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014215"/>
            <a:ext cx="3497580" cy="38404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14215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DISCOUNT_UPDATED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1980" y="4014215"/>
            <a:ext cx="1440180" cy="38404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3420" y="4014215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9,188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398264"/>
            <a:ext cx="34975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98264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PDI_INFO_UPDATED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1980" y="4398264"/>
            <a:ext cx="14401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3420" y="4398264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8,428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82312"/>
            <a:ext cx="3497580" cy="38404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82312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PAYMENTS_UPDATED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1980" y="4782312"/>
            <a:ext cx="1440180" cy="38404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3420" y="4782312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7,816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166359"/>
            <a:ext cx="34975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166359"/>
            <a:ext cx="3332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FINANCE_INFO_UPDATED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1980" y="5166359"/>
            <a:ext cx="1440180" cy="38404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3420" y="5166359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5,588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Logins, edits, notes and repeat uploads → </a:t>
            </a:r>
            <a:r>
              <a:rPr sz="1150" b="1">
                <a:solidFill>
                  <a:srgbClr val="F43F5E"/>
                </a:solidFill>
                <a:latin typeface="Segoe UI"/>
              </a:rPr>
              <a:t>0 XP.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260604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788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SIGNAL — REWARDED MILESTONES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29184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Update vs Progress  </a:t>
            </a:r>
            <a:r>
              <a:rPr sz="1250">
                <a:solidFill>
                  <a:srgbClr val="E8EAF2"/>
                </a:solidFill>
                <a:latin typeface="Segoe UI"/>
              </a:rPr>
              <a:t>FINANCE_INFO_UPDATED = 0; FINANCE_CLEARED = 60.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Repeated vs One-time  </a:t>
            </a:r>
            <a:r>
              <a:rPr sz="1250">
                <a:solidFill>
                  <a:srgbClr val="E8EAF2"/>
                </a:solidFill>
                <a:latin typeface="Segoe UI"/>
              </a:rPr>
              <a:t>notes = 0; INVOICE_APPROVED scores once.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Granular vs Meaningful  </a:t>
            </a:r>
            <a:r>
              <a:rPr sz="1250">
                <a:solidFill>
                  <a:srgbClr val="E8EAF2"/>
                </a:solidFill>
                <a:latin typeface="Segoe UI"/>
              </a:rPr>
              <a:t>single doc uploads = 0; full DOCUMENT_SET = 30.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 b="1">
                <a:solidFill>
                  <a:srgbClr val="FFFFFF"/>
                </a:solidFill>
                <a:latin typeface="Segoe UI"/>
              </a:rPr>
              <a:t>Effort vs Outcome  </a:t>
            </a:r>
            <a:r>
              <a:rPr sz="1250">
                <a:solidFill>
                  <a:srgbClr val="E8EAF2"/>
                </a:solidFill>
                <a:latin typeface="Segoe UI"/>
              </a:rPr>
              <a:t>commitments = 0; delivery-driving steps score high.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XP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17 Milestones + Team Bonus — Under the 20 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147934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783080"/>
            <a:ext cx="298334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Milestone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8014" y="1783080"/>
            <a:ext cx="1528996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9454" y="1783080"/>
            <a:ext cx="13644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7011" y="1783080"/>
            <a:ext cx="809468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8451" y="1783080"/>
            <a:ext cx="6448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XP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6712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16712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Booking Created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8014" y="216712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9454" y="216712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011" y="216712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8451" y="216712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3288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253288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Discount Approved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8014" y="253288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9454" y="253288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SALES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17011" y="253288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8451" y="253288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9864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289864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Invoice Signed (Sales)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8014" y="289864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79454" y="289864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SALES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17011" y="289864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8451" y="289864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26440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26440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Registration Approved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88014" y="326440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9454" y="326440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SALES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7011" y="326440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8451" y="326440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63016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363016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Loan File Opened 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8014" y="363016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9454" y="363016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FINANCE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17011" y="363016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8451" y="363016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99592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19" y="399592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Finance Cleared 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88014" y="399592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79454" y="399592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FINANCE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17011" y="399592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8451" y="399592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36168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19" y="436168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Payment Credited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88014" y="436168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79454" y="436168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ACCOUNTS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17011" y="436168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08451" y="436168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45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72744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19" y="472744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Gatepass Issued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88014" y="472744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79454" y="472744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ACCOUNTS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7011" y="472744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8451" y="472744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09320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19" y="509320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Invoice Finalized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88014" y="509320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79454" y="509320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EDP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17011" y="509320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08451" y="509320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783080"/>
            <a:ext cx="3147934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1783080"/>
            <a:ext cx="298334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Milestone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03014" y="1783080"/>
            <a:ext cx="1528996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94454" y="1783080"/>
            <a:ext cx="13644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32011" y="1783080"/>
            <a:ext cx="809468" cy="3840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23451" y="1783080"/>
            <a:ext cx="6448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XP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216712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46520" y="216712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Registration Processed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3014" y="216712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94454" y="216712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EDP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032011" y="216712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23451" y="216712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253288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253288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Registration Filed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03014" y="253288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94454" y="253288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RTO / Regn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032011" y="253288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123451" y="253288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40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55080" y="289864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289864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Insurance Approved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3014" y="289864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94454" y="289864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CUST. CARE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032011" y="289864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123451" y="289864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55080" y="326440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326440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Delivery Coordinated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3014" y="326440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94454" y="326440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CUST. CARE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032011" y="326440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123451" y="326440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55080" y="363016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46520" y="363016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Gatepass Cleared (CCM)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503014" y="363016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94454" y="363016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CUST. CARE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032011" y="363016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123451" y="363016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55080" y="399592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46520" y="399592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Inspected &amp; Dispatched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03014" y="399592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594454" y="399592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PDI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032011" y="399592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123451" y="399592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55080" y="436168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46520" y="436168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RTO Registration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503014" y="436168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594454" y="436168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PDI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032011" y="436168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123451" y="436168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20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55080" y="4727448"/>
            <a:ext cx="3147934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6520" y="472744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Document Set Completed *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503014" y="4727448"/>
            <a:ext cx="1528996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94454" y="472744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PDI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032011" y="4727448"/>
            <a:ext cx="809468" cy="36576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123451" y="472744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30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55080" y="5093208"/>
            <a:ext cx="3147934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46520" y="5093208"/>
            <a:ext cx="29833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Team Bonus (co-op)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03014" y="5093208"/>
            <a:ext cx="1528996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94454" y="5093208"/>
            <a:ext cx="13644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ANY DEPT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032011" y="5093208"/>
            <a:ext cx="809468" cy="365760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123451" y="5093208"/>
            <a:ext cx="6448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C53D"/>
                </a:solidFill>
                <a:latin typeface="Segoe UI"/>
              </a:rPr>
              <a:t>+25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*  </a:t>
            </a:r>
            <a:r>
              <a:rPr sz="1200" b="1">
                <a:solidFill>
                  <a:srgbClr val="FFFFFF"/>
                </a:solidFill>
                <a:latin typeface="Segoe UI"/>
              </a:rPr>
              <a:t>Derived milestones</a:t>
            </a:r>
            <a:r>
              <a:rPr sz="1200" b="0">
                <a:solidFill>
                  <a:srgbClr val="969CB6"/>
                </a:solidFill>
                <a:latin typeface="Segoe UI"/>
              </a:rPr>
              <a:t> — not a single log row but computed from the booking's history. </a:t>
            </a:r>
            <a:r>
              <a:rPr sz="1200" b="0">
                <a:solidFill>
                  <a:srgbClr val="969CB6"/>
                </a:solidFill>
                <a:latin typeface="Segoe UI"/>
              </a:rPr>
              <a:t>XP weight = business impact: a Gatepass (100) and Finance Cleared (60) dwarf a status update (0).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BEYOND RAW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Derived Milestones: Scoring What Isn't Logged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69CB6"/>
                </a:solidFill>
                <a:latin typeface="Segoe UI"/>
              </a:rPr>
              <a:t>The real signal often isn't a single event. We reconstruct true milestones from each booking's event history, then credit the person who completed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82296" cy="8229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C55E"/>
                </a:solidFill>
                <a:latin typeface="Segoe UI"/>
              </a:rPr>
              <a:t>Loan File Opened  ·  10 XP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33472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First finance touch on a booking — the loan work begins.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47288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47288"/>
            <a:ext cx="82296" cy="8229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C55E"/>
                </a:solidFill>
                <a:latin typeface="Segoe UI"/>
              </a:rPr>
              <a:t>Finance Cleared  ·  60 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6616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Booking had finance work AND advanced past the finance stage (ABNR+).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6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79976"/>
            <a:ext cx="82296" cy="8229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B7185"/>
                </a:solidFill>
                <a:latin typeface="Segoe UI"/>
              </a:rPr>
              <a:t>Document Set Completed  ·  30 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498848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All 7 required docs present (PAN, Aadhaar, VIN, 4 photos) → credit the finisher.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12664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12664"/>
            <a:ext cx="82296" cy="822960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31536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C53D"/>
                </a:solidFill>
                <a:latin typeface="Segoe UI"/>
              </a:rPr>
              <a:t>Team Bonus  ·  +25 XP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431536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 delivered car that ≥2 departments moved pays every contributor.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This is how we “gamify the completion, not the pieces” — exactly as the brief 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ANTI-GAMING · THE FULL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Six Rules That Make It Un-Gameable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502152" cy="8229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9397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5CFF"/>
                </a:solidFill>
                <a:latin typeface="Segoe UI"/>
              </a:rPr>
              <a:t>Once per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24327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Every milestone scores exactly once per car. Repeating an action does nothing.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74519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74519"/>
            <a:ext cx="3502152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9397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3F5E"/>
                </a:solidFill>
                <a:latin typeface="Segoe UI"/>
              </a:rPr>
              <a:t>Cancelled =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624327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Cancelled bookings never score, so churning fake deals is worthless.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7" y="1874519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7" y="1874519"/>
            <a:ext cx="3502152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209397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Outcomes over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24327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Delivery-driving steps carry 3–10× the weight of any update.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3502152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0565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Noise floored to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36008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The five most frequent actions — 58k+ events — all pay nothing.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388620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3886200"/>
            <a:ext cx="3502152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10565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Credit the real 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636008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XP lands on whoever actually performed the step, in their real dept.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7" y="388620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73567" y="3886200"/>
            <a:ext cx="3502152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7" y="410565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Segoe UI"/>
              </a:rPr>
              <a:t>≤20 scoring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4636008"/>
            <a:ext cx="3044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 hard whitelist; everything outside it is invisible to the score.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“If users repeat an action 50 times, they get 50× points?”  →  No. In DealerVerse, they get 1×,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TEAM COLLABORATION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Cars Get Delivered by Teams — So Teams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969CB6"/>
                </a:solidFill>
                <a:latin typeface="Segoe UI"/>
              </a:rPr>
              <a:t>A delivered car is a relay. When two or more departments moved the same booking to delivery, every contributing department earns a </a:t>
            </a:r>
            <a:r>
              <a:rPr sz="1450" b="1">
                <a:solidFill>
                  <a:srgbClr val="FFC53D"/>
                </a:solidFill>
                <a:latin typeface="Segoe UI"/>
              </a:rPr>
              <a:t>+25 XP Team Bonus</a:t>
            </a:r>
            <a:r>
              <a:rPr sz="1450" b="0">
                <a:solidFill>
                  <a:srgbClr val="969CB6"/>
                </a:solidFill>
                <a:latin typeface="Segoe UI"/>
              </a:rPr>
              <a:t> — collaboration literally pays.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82296" cy="1371600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98064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C53D"/>
                </a:solidFill>
                <a:latin typeface="Segoe UI Semibold"/>
              </a:rPr>
              <a:t>1,508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Team bonuses awarded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on delivered cars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6517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651760"/>
            <a:ext cx="82296" cy="13716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798064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7C5CFF"/>
                </a:solidFill>
                <a:latin typeface="Segoe UI Semibold"/>
              </a:rPr>
              <a:t>+25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XP per dept, per car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every contributor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6517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651760"/>
            <a:ext cx="82296" cy="13716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798064"/>
            <a:ext cx="33832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2C55E"/>
                </a:solidFill>
                <a:latin typeface="Segoe UI Semibold"/>
              </a:rPr>
              <a:t>7 /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EAF2"/>
                </a:solidFill>
                <a:latin typeface="Segoe UI"/>
              </a:rPr>
              <a:t>Departments collaborating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69CB6"/>
                </a:solidFill>
                <a:latin typeface="Segoe UI"/>
              </a:rPr>
              <a:t>Sales → Customer Care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THE RELAY — ONE CAR, MANY HANDS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5CFF"/>
                </a:solidFill>
                <a:latin typeface="Segoe UI"/>
              </a:rPr>
              <a:t>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0591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1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3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86783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5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22975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2975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8BDF8"/>
                </a:solidFill>
                <a:latin typeface="Segoe UI"/>
              </a:rPr>
              <a:t>EDP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7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9167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7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B7185"/>
                </a:solidFill>
                <a:latin typeface="Segoe UI"/>
              </a:rPr>
              <a:t>PDI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59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59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E6A6"/>
                </a:solidFill>
                <a:latin typeface="Segoe UI"/>
              </a:rPr>
              <a:t>Cust. Care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1" y="507492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31551" y="5074920"/>
            <a:ext cx="1316736" cy="73152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31551" y="5074920"/>
            <a:ext cx="1316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RTO / Regn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69CB6"/>
                </a:solidFill>
                <a:latin typeface="Segoe UI"/>
              </a:rPr>
              <a:t>Each hand-off that helps deliver the car is rewarded — no one can hoard the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EVERY TEAM, NOT JUST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All 7 Departments Gamified — Live Standings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4038268" cy="40233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38736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8348" y="1828800"/>
            <a:ext cx="1900361" cy="40233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9788" y="1828800"/>
            <a:ext cx="173576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8710" y="1828800"/>
            <a:ext cx="2612997" cy="40233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0150" y="1828800"/>
            <a:ext cx="24484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Total XP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1707" y="1828800"/>
            <a:ext cx="2375452" cy="40233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3147" y="1828800"/>
            <a:ext cx="22108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31136"/>
            <a:ext cx="4038268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231136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8348" y="2231136"/>
            <a:ext cx="1900361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9788" y="2231136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78710" y="2231136"/>
            <a:ext cx="2612997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0150" y="2231136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256,675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1707" y="2231136"/>
            <a:ext cx="2375452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3147" y="2231136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2,979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660904"/>
            <a:ext cx="4038268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2660904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5CFF"/>
                </a:solidFill>
                <a:latin typeface="Segoe UI"/>
              </a:rPr>
              <a:t>SALES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8348" y="2660904"/>
            <a:ext cx="1900361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9788" y="2660904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241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8710" y="2660904"/>
            <a:ext cx="2612997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0150" y="2660904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199,015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1707" y="2660904"/>
            <a:ext cx="2375452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3147" y="2660904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6,747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090672"/>
            <a:ext cx="4038268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090672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EDP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78348" y="3090672"/>
            <a:ext cx="1900361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9788" y="3090672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8710" y="3090672"/>
            <a:ext cx="2612997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0150" y="3090672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178,565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91707" y="3090672"/>
            <a:ext cx="2375452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3147" y="3090672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3,999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520439"/>
            <a:ext cx="4038268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3520439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E6A6"/>
                </a:solidFill>
                <a:latin typeface="Segoe UI"/>
              </a:rPr>
              <a:t>CUSTOMER CARE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8348" y="3520439"/>
            <a:ext cx="1900361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9788" y="3520439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78710" y="3520439"/>
            <a:ext cx="2612997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0150" y="3520439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160,960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91707" y="3520439"/>
            <a:ext cx="2375452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3147" y="3520439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4,608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950207"/>
            <a:ext cx="4038268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19" y="3950207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B7185"/>
                </a:solidFill>
                <a:latin typeface="Segoe UI"/>
              </a:rPr>
              <a:t>PDI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78348" y="3950207"/>
            <a:ext cx="1900361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9788" y="3950207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78710" y="3950207"/>
            <a:ext cx="2612997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0150" y="3950207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130,445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91707" y="3950207"/>
            <a:ext cx="2375452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3147" y="3950207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4,143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379975"/>
            <a:ext cx="4038268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19" y="4379975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FINANCE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78348" y="4379975"/>
            <a:ext cx="1900361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69788" y="4379975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78710" y="4379975"/>
            <a:ext cx="2612997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0150" y="4379975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129,220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91707" y="4379975"/>
            <a:ext cx="2375452" cy="429768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3147" y="4379975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3,647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809743"/>
            <a:ext cx="4038268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19" y="4809743"/>
            <a:ext cx="38736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RTO / REGN TEAM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78348" y="4809743"/>
            <a:ext cx="1900361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69788" y="4809743"/>
            <a:ext cx="173576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78710" y="4809743"/>
            <a:ext cx="2612997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0150" y="4809743"/>
            <a:ext cx="244840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C53D"/>
                </a:solidFill>
                <a:latin typeface="Segoe UI"/>
              </a:rPr>
              <a:t>51,965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91707" y="4809743"/>
            <a:ext cx="2375452" cy="429768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3147" y="4809743"/>
            <a:ext cx="22108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841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3492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Note the fairness win: </a:t>
            </a:r>
            <a:r>
              <a:rPr sz="1250" b="0">
                <a:solidFill>
                  <a:srgbClr val="969CB6"/>
                </a:solidFill>
                <a:latin typeface="Segoe UI"/>
              </a:rPr>
              <a:t>PDI has 3 people yet out-scores 241 in Sales — per-department ranks let small teams compete on their own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Per-Department Rank Ladders — Rookie → Legend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5CFF"/>
                </a:solidFill>
                <a:latin typeface="Segoe UI"/>
              </a:rPr>
              <a:t>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Rookie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Lead Hunter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Negotiator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Deal Closer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7C5CFF"/>
                </a:solidFill>
                <a:latin typeface="Segoe UI"/>
              </a:rPr>
              <a:t>Sales Champion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178308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178308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7C5CFF"/>
                </a:solidFill>
                <a:latin typeface="Segoe UI"/>
              </a:rPr>
              <a:t>Dealership Legend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386584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8658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Segoe UI"/>
              </a:rPr>
              <a:t>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Finance Trainee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Loan Expert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Approval Master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Finance Hero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22C55E"/>
                </a:solidFill>
                <a:latin typeface="Segoe UI"/>
              </a:rPr>
              <a:t>Finance 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238658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238658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22C55E"/>
                </a:solidFill>
                <a:latin typeface="Segoe UI"/>
              </a:rPr>
              <a:t>Finance Legend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990088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990088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ACCOUNTS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Ledger Rookie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Payment Verifier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Credit Controller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Accounts Ace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F59E0B"/>
                </a:solidFill>
                <a:latin typeface="Segoe UI"/>
              </a:rPr>
              <a:t>Revenue Guardian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2990088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2990088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F59E0B"/>
                </a:solidFill>
                <a:latin typeface="Segoe UI"/>
              </a:rPr>
              <a:t>Accounts Legend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3593591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593591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EDP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608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180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Data Rookie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System Operator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5216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788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Invoice Master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Backend Ace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Ops Architect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41280" y="3593591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87000" y="3593591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EDP Legend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197096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197096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E6A6"/>
                </a:solidFill>
                <a:latin typeface="Segoe UI"/>
              </a:rPr>
              <a:t>CUSTOMER CARE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2608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7180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Care Trainee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8912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3484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Support Specialist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5216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Insurance Pro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6092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Care Champion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7824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2396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2EE6A6"/>
                </a:solidFill>
                <a:latin typeface="Segoe UI"/>
              </a:rPr>
              <a:t>Customer Hero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241280" y="4197096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87000" y="4197096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2EE6A6"/>
                </a:solidFill>
                <a:latin typeface="Segoe UI"/>
              </a:rPr>
              <a:t>Care Legend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" y="4800600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80060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B7185"/>
                </a:solidFill>
                <a:latin typeface="Segoe UI"/>
              </a:rPr>
              <a:t>PDI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92608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Inspection Rookie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8912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3484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Quality Checker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5216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9788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Dispatch Pro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6092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PDI Ace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77824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2396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FB7185"/>
                </a:solidFill>
                <a:latin typeface="Segoe UI"/>
              </a:rPr>
              <a:t>Delivery Master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241280" y="4800600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87000" y="4800600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FB7185"/>
                </a:solidFill>
                <a:latin typeface="Segoe UI"/>
              </a:rPr>
              <a:t>PDI Legend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" y="5404104"/>
            <a:ext cx="2148840" cy="512064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" y="540410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78BFA"/>
                </a:solidFill>
                <a:latin typeface="Segoe UI"/>
              </a:rPr>
              <a:t>RTO / REGN TEAM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2608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7180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969CB6"/>
                </a:solidFill>
                <a:latin typeface="Segoe UI"/>
              </a:rPr>
              <a:t>Filing Rookie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8912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3484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Registration Clerk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5216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9788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RTO Specialist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1520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6092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E8EAF2"/>
                </a:solidFill>
                <a:latin typeface="Segoe UI"/>
              </a:rPr>
              <a:t>Compliance Pro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77824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2396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A78BFA"/>
                </a:solidFill>
                <a:latin typeface="Segoe UI"/>
              </a:rPr>
              <a:t>Registration Master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241280" y="5404104"/>
            <a:ext cx="1417320" cy="512064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5404104"/>
            <a:ext cx="1325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A78BFA"/>
                </a:solidFill>
                <a:latin typeface="Segoe UI"/>
              </a:rPr>
              <a:t>RTO Legend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80" y="5971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6 tiers × 7 departments = 42 named ranks. </a:t>
            </a:r>
            <a:r>
              <a:rPr sz="1250" b="0">
                <a:solidFill>
                  <a:srgbClr val="969CB6"/>
                </a:solidFill>
                <a:latin typeface="Segoe UI"/>
              </a:rPr>
              <a:t>Thresholds are computed from each department's real XP distribution, so every ladder is earned.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FULL GAME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Levels · Missions · Badges · Streaks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70048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670048" cy="8229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5CFF"/>
                </a:solidFill>
                <a:latin typeface="Segoe UI"/>
              </a:rPr>
              <a:t>Ranks &amp;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258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7C5CFF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6-tier ladder per department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7C5CFF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Rank ring shows % to next rank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7C5CFF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Top earner always reaches Legend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70048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70048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084831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Daily 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2258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2 department-specific quests/day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Progress from real 'today' counts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+ Team-bonus &amp; streak 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70048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7004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Achievements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258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First Booking, Centurion, Team Player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Sharpshooter, Fast Approver, Gatekeeper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Veteran, Legend, 7-Day Streak 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828800"/>
            <a:ext cx="2670048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39" y="1828800"/>
            <a:ext cx="2670048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2084831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Streaks &amp;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2697480"/>
            <a:ext cx="2258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Consecutive active-day streaks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Weekly XP delta (up/down %)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—  </a:t>
            </a:r>
            <a:r>
              <a:rPr sz="1180">
                <a:solidFill>
                  <a:srgbClr val="E8EAF2"/>
                </a:solidFill>
                <a:latin typeface="Segoe UI"/>
              </a:rPr>
              <a:t>Most Improved &amp; Fastest Growing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Short-term (missions) + mid-term (ranks) + long-term (season leaderboard) goals keep it fun for months.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ENGAGEMENT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Daily Missions &amp; the AI Coach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DAILY MISSIONS  (examples)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🚗 Create 5 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Sales · 100 XP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07791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07791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✅ Clear 3 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07791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Finance · Loan Hero badge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92424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🛡️ Issue 4 gatepasses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92424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Accounts · 150 XP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77056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77056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☂️ Approve 4 insurances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7705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Cust. Care · 120 XP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61688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8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📝 File 5 registrations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6168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RTO · 150 XP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46320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🤝 Earn a Team Bonus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846320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Any · 25 XP + badge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30952"/>
            <a:ext cx="4800600" cy="43891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9525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330952"/>
            <a:ext cx="3291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F2"/>
                </a:solidFill>
                <a:latin typeface="Segoe UI"/>
              </a:rPr>
              <a:t>🔥 Keep your streak alive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330952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Segoe UI"/>
              </a:rPr>
              <a:t>Any · streak multiplier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🧠  AI COACH  (deterministic insights)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4688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“You're only 340 XP from Deal Closer — keep clearing key milestones.”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182112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“Your XP is up 24% vs last week (1,120 XP in your last 7 active days).”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95344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“2 to go on 'Clear 3 loans' — finish it to grab the Loan Hero badge.”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608576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“Strong teamwork — 18 collaboration bonuses. You're carrying your squad.”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321808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“5-day streak going. One more active day keeps your multiplier climbing.”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100% computed from the player's real data — no LLM, no guesswork.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BIG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 Full C2B2C Buy / Sell Loop, Gamified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69CB6"/>
                </a:solidFill>
                <a:latin typeface="Segoe UI"/>
              </a:rPr>
              <a:t>Beyond scoring history, DealerVerse runs a live end-to-end used-car flow: a customer sells a car to the dealership, which reconditions, prices and re-sells it to a buyer — every step scored.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E6A6"/>
                </a:solidFill>
                <a:latin typeface="Segoe UI"/>
              </a:rPr>
              <a:t>① ACQUISITION  —  customer sells to dealership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Seller posts 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72491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6020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0884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PDI inspects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884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+20 XP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5948" y="272491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3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Sales offers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3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+40 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72491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7899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2763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Seller accepts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2763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7827" y="272491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Accounts pays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+50 XP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7" y="272491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9780" y="272491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4644" y="276148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Listed to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644" y="312724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auto-priced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② SALE FULFILMENT  —  buyer purchases (each stage owned by a department)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Reserved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5CFF"/>
                </a:solidFill>
                <a:latin typeface="Segoe UI"/>
              </a:rPr>
              <a:t>Sales ·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0008" y="395935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46020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0884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Loan Approved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0884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2C55E"/>
                </a:solidFill>
                <a:latin typeface="Segoe UI"/>
              </a:rPr>
              <a:t>Finance · 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5948" y="395935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59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6823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Payment Cleared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3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Accounts · 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395935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57899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2763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Invoice Generated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12763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EDP · 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67827" y="395935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8704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Ownership Transferred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18704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A78BFA"/>
                </a:solidFill>
                <a:latin typeface="Segoe UI"/>
              </a:rPr>
              <a:t>RTO · 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73767" y="3959352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69780" y="3959352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24644" y="3995928"/>
            <a:ext cx="164591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E8EAF2"/>
                </a:solidFill>
                <a:latin typeface="Segoe UI"/>
              </a:rPr>
              <a:t>Delivered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4644" y="436168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E6A6"/>
                </a:solidFill>
                <a:latin typeface="Segoe UI"/>
              </a:rPr>
              <a:t>Cust.Care · 60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1206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BUILT-IN ECONOMICS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440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Reconditioning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8EAF2"/>
                </a:solidFill>
                <a:latin typeface="Segoe UI"/>
              </a:rPr>
              <a:t>4% of acquisition 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440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Retail margin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8EAF2"/>
                </a:solidFill>
                <a:latin typeface="Segoe UI"/>
              </a:rPr>
              <a:t>12% dealership markup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5440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8BDF8"/>
                </a:solidFill>
                <a:latin typeface="Segoe UI"/>
              </a:rPr>
              <a:t>Auto-retail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8EAF2"/>
                </a:solidFill>
                <a:latin typeface="Segoe UI"/>
              </a:rPr>
              <a:t>(acq + recon) × 1.12, rounded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5440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Override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8EAF2"/>
                </a:solidFill>
                <a:latin typeface="Segoe UI"/>
              </a:rPr>
              <a:t>Sales/Supervisor can re-price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Four Roles, Department-Gated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9601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5CFF"/>
                </a:solidFill>
                <a:latin typeface="Segoe UI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47672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Logs in with a 4-digit PIN + department. Sees their dashboard, missions, rank, leaderboard. Can advance sale stages owned by their department.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07791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07791"/>
            <a:ext cx="82296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1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26663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An employee flag that unlocks every workflow gate — can inspect, offer, pay out and advance any stage. For managers running the floor.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86783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86783"/>
            <a:ext cx="82296" cy="960120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3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E6A6"/>
                </a:solidFill>
                <a:latin typeface="Segoe UI"/>
              </a:rPr>
              <a:t>Seller (Customer)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105655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Posts a car to sell, tracks the acquisition offer, and accepts or declines the dealership's price.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065776"/>
            <a:ext cx="82296" cy="9601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65776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Buyer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84648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Browses the marketplace of certified inventory, reserves a car, and watches its sale progress to delivery.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69CB6"/>
                </a:solidFill>
                <a:latin typeface="Segoe UI"/>
              </a:rPr>
              <a:t>PINs are derived deterministically from the employee ID (client-side, no backend) — every one of 6,037 staff has a unique login.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16 Live Screens — A Complete Playable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02412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PIN + dept, or Buyer/Seller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73152" cy="102412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9751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59152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XP, rank ring, level, 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73152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751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Activity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59152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Live milestone 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828800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39" y="1828800"/>
            <a:ext cx="73152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19751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2359152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Booking-race lifecycle 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980944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980944"/>
            <a:ext cx="73152" cy="10241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12724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5112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PDI inspects trade-ins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2980944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2980944"/>
            <a:ext cx="73152" cy="102412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12724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E6A6"/>
                </a:solidFill>
                <a:latin typeface="Segoe UI"/>
              </a:rPr>
              <a:t>Customer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5112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Seller posts a car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80944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980944"/>
            <a:ext cx="73152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12724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Marketplace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112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Buyer browses &amp; reserves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39" y="2980944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39" y="2980944"/>
            <a:ext cx="73152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39" y="312724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My Purchases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39" y="3511296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Buyer tracks delivery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133088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133088"/>
            <a:ext cx="73152" cy="10241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27939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Missions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66344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Daily quests +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4133088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4133088"/>
            <a:ext cx="73152" cy="102412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27939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Career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66344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Rank ladder progression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133088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133088"/>
            <a:ext cx="73152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27939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Achievements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66344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Badge collection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39" y="4133088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06839" y="4133088"/>
            <a:ext cx="73152" cy="1024128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39" y="427939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53D"/>
                </a:solidFill>
                <a:latin typeface="Segoe UI"/>
              </a:rPr>
              <a:t>Leaderboard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39" y="466344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Overall &amp; per-dept ranks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285232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5285232"/>
            <a:ext cx="73152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43153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Department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581558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Team standings &amp; stats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5285232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29000" y="5285232"/>
            <a:ext cx="73152" cy="10241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543153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Manager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581558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Weekly charts, most improved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5285232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5285232"/>
            <a:ext cx="73152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43153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AI Coach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81558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Personalised insights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06839" y="5285232"/>
            <a:ext cx="2670048" cy="102412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6839" y="5285232"/>
            <a:ext cx="73152" cy="102412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35439" y="543153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E6A6"/>
                </a:solidFill>
                <a:latin typeface="Segoe UI"/>
              </a:rPr>
              <a:t>Profile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39" y="581558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69CB6"/>
                </a:solidFill>
                <a:latin typeface="Segoe UI"/>
              </a:rPr>
              <a:t>Player card &amp;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LIVE APP · PLAYER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What a Player Sees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440680" cy="3400425"/>
          </a:xfrm>
          <a:prstGeom prst="rect">
            <a:avLst/>
          </a:prstGeom>
          <a:ln w="15875">
            <a:solidFill>
              <a:srgbClr val="7C5CFF"/>
            </a:solidFill>
          </a:ln>
          <a:effectLst/>
        </p:spPr>
      </p:pic>
      <p:pic>
        <p:nvPicPr>
          <p:cNvPr id="9" name="Picture 8" descr="car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74519"/>
            <a:ext cx="5440680" cy="3400425"/>
          </a:xfrm>
          <a:prstGeom prst="rect">
            <a:avLst/>
          </a:prstGeom>
          <a:ln w="15875">
            <a:solidFill>
              <a:srgbClr val="38BDF8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Personal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Rank ring, total XP, streak, XP-growth chart &amp; AI-Coach teaser — real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Career Progression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The full department rank ladder with 'You are here' and per-rank headcount.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LIVE APP ·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Missions, Coaching &amp;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pic>
        <p:nvPicPr>
          <p:cNvPr id="8" name="Picture 7" descr="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440680" cy="3400425"/>
          </a:xfrm>
          <a:prstGeom prst="rect">
            <a:avLst/>
          </a:prstGeom>
          <a:ln w="15875">
            <a:solidFill>
              <a:srgbClr val="22C55E"/>
            </a:solidFill>
          </a:ln>
          <a:effectLst/>
        </p:spPr>
      </p:pic>
      <p:pic>
        <p:nvPicPr>
          <p:cNvPr id="9" name="Picture 8" descr="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74519"/>
            <a:ext cx="5440680" cy="3400425"/>
          </a:xfrm>
          <a:prstGeom prst="rect">
            <a:avLst/>
          </a:prstGeom>
          <a:ln w="15875">
            <a:solidFill>
              <a:srgbClr val="FFC53D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C55E"/>
                </a:solidFill>
                <a:latin typeface="Segoe UI"/>
              </a:rPr>
              <a:t>Daily Missions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Department quests with live progress bars from real 'today'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C53D"/>
                </a:solidFill>
                <a:latin typeface="Segoe UI"/>
              </a:rPr>
              <a:t>Leaderboard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“Ranked on real, milestone-only XP — activity can't be farmed.”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LIVE APP · OPS &amp;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Manager Analytics &amp; the Live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pic>
        <p:nvPicPr>
          <p:cNvPr id="8" name="Picture 7" descr="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440680" cy="3400425"/>
          </a:xfrm>
          <a:prstGeom prst="rect">
            <a:avLst/>
          </a:prstGeom>
          <a:ln w="15875">
            <a:solidFill>
              <a:srgbClr val="F59E0B"/>
            </a:solidFill>
          </a:ln>
          <a:effectLst/>
        </p:spPr>
      </p:pic>
      <p:pic>
        <p:nvPicPr>
          <p:cNvPr id="9" name="Picture 8" descr="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74519"/>
            <a:ext cx="5440680" cy="3400425"/>
          </a:xfrm>
          <a:prstGeom prst="rect">
            <a:avLst/>
          </a:prstGeom>
          <a:ln w="15875">
            <a:solidFill>
              <a:srgbClr val="38BDF8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Manager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1.1M XP across 305 players; weekly momentum line per department.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44068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Buyer Marketplace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Certified inventory with N-pt check, warranty, price &amp; est. EMI — reserve to buy.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IT ACTUALLY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Live Leaderboard — Real People, Real XP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95359" cy="4206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53076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5439" y="1828800"/>
            <a:ext cx="3576135" cy="4206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879" y="1828800"/>
            <a:ext cx="34115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1574" y="1828800"/>
            <a:ext cx="2284753" cy="4206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3014" y="1828800"/>
            <a:ext cx="212016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Department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7" y="1828800"/>
            <a:ext cx="1788067" cy="4206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7" y="1828800"/>
            <a:ext cx="16234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XP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4395" y="1828800"/>
            <a:ext cx="2582764" cy="42062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5835" y="1828800"/>
            <a:ext cx="24181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695359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249424"/>
            <a:ext cx="5307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5439" y="2249424"/>
            <a:ext cx="3576135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6879" y="2249424"/>
            <a:ext cx="34115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MANOJ KUMAR B 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1574" y="2249424"/>
            <a:ext cx="2284753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3014" y="2249424"/>
            <a:ext cx="21201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PDI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96327" y="2249424"/>
            <a:ext cx="1788067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7" y="2249424"/>
            <a:ext cx="16234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97,030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4395" y="2249424"/>
            <a:ext cx="2582764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5835" y="2249424"/>
            <a:ext cx="24181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78BFA"/>
                </a:solidFill>
                <a:latin typeface="Segoe UI"/>
              </a:rPr>
              <a:t>PDI Legend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61488"/>
            <a:ext cx="695359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2761488"/>
            <a:ext cx="5307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C6D8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35439" y="2761488"/>
            <a:ext cx="3576135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6879" y="2761488"/>
            <a:ext cx="34115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S HEMAVATHI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1574" y="2761488"/>
            <a:ext cx="2284753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3014" y="2761488"/>
            <a:ext cx="21201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RTO / Regn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96327" y="2761488"/>
            <a:ext cx="1788067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7767" y="2761488"/>
            <a:ext cx="16234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51,965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4395" y="2761488"/>
            <a:ext cx="2582764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5835" y="2761488"/>
            <a:ext cx="24181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78BFA"/>
                </a:solidFill>
                <a:latin typeface="Segoe UI"/>
              </a:rPr>
              <a:t>RTO Legend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273552"/>
            <a:ext cx="695359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3273552"/>
            <a:ext cx="5307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D8B5C"/>
                </a:solidFill>
                <a:latin typeface="Segoe U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35439" y="3273552"/>
            <a:ext cx="3576135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6879" y="3273552"/>
            <a:ext cx="34115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JYOTHILAKSHMI 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11574" y="3273552"/>
            <a:ext cx="2284753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03014" y="3273552"/>
            <a:ext cx="21201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Accounts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96327" y="3273552"/>
            <a:ext cx="1788067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7767" y="3273552"/>
            <a:ext cx="16234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36,670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84395" y="3273552"/>
            <a:ext cx="2582764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5835" y="3273552"/>
            <a:ext cx="24181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78BFA"/>
                </a:solidFill>
                <a:latin typeface="Segoe UI"/>
              </a:rPr>
              <a:t>Accounts Legend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785616"/>
            <a:ext cx="695359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19" y="3785616"/>
            <a:ext cx="5307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69CB6"/>
                </a:solidFill>
                <a:latin typeface="Segoe U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5439" y="3785616"/>
            <a:ext cx="3576135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26879" y="3785616"/>
            <a:ext cx="34115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VIGNESH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11574" y="3785616"/>
            <a:ext cx="2284753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03014" y="3785616"/>
            <a:ext cx="21201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EDP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96327" y="3785616"/>
            <a:ext cx="1788067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87767" y="3785616"/>
            <a:ext cx="16234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35,100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4395" y="3785616"/>
            <a:ext cx="2582764" cy="512064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5835" y="3785616"/>
            <a:ext cx="24181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78BFA"/>
                </a:solidFill>
                <a:latin typeface="Segoe UI"/>
              </a:rPr>
              <a:t>EDP Legend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297680"/>
            <a:ext cx="695359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19" y="4297680"/>
            <a:ext cx="5307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69CB6"/>
                </a:solidFill>
                <a:latin typeface="Segoe UI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35439" y="4297680"/>
            <a:ext cx="3576135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26879" y="4297680"/>
            <a:ext cx="341154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F2"/>
                </a:solidFill>
                <a:latin typeface="Segoe UI"/>
              </a:rPr>
              <a:t>ASHWINI RAI MITCHELL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11574" y="4297680"/>
            <a:ext cx="2284753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03014" y="4297680"/>
            <a:ext cx="212016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F2"/>
                </a:solidFill>
                <a:latin typeface="Segoe UI"/>
              </a:rPr>
              <a:t>Customer Care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96327" y="4297680"/>
            <a:ext cx="1788067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87767" y="4297680"/>
            <a:ext cx="16234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C53D"/>
                </a:solidFill>
                <a:latin typeface="Segoe UI"/>
              </a:rPr>
              <a:t>35,065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4395" y="4297680"/>
            <a:ext cx="2582764" cy="512064"/>
          </a:xfrm>
          <a:prstGeom prst="rect">
            <a:avLst/>
          </a:prstGeom>
          <a:solidFill>
            <a:srgbClr val="17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75835" y="4297680"/>
            <a:ext cx="24181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78BFA"/>
                </a:solidFill>
                <a:latin typeface="Segoe UI"/>
              </a:rPr>
              <a:t>Care Legend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9469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69CB6"/>
                </a:solidFill>
                <a:latin typeface="Segoe UI"/>
              </a:rPr>
              <a:t>Every name, department and XP total is computed from the real event log — the app is fully seeded and playable.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305 players ranked · 1,508 team bonuses · 3,800 bookings · live activity feed of 800 recent milestones.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969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69CB6"/>
                </a:solidFill>
                <a:latin typeface="Segoe UI"/>
              </a:rPr>
              <a:t>3 real CSVs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170k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1256" y="182880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build-data.mjs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591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score + derive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182880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8288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dealerverse.json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591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compact precompute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1828800"/>
            <a:ext cx="256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69CB6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8288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965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React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3591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instant 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63240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FRONTEND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React 19 + Vite  </a:t>
            </a:r>
            <a:r>
              <a:rPr sz="1200">
                <a:solidFill>
                  <a:srgbClr val="E8EAF2"/>
                </a:solidFill>
                <a:latin typeface="Segoe UI"/>
              </a:rPr>
              <a:t>SPA, hash-routed, 16 screens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Tailwind CSS  </a:t>
            </a:r>
            <a:r>
              <a:rPr sz="1200">
                <a:solidFill>
                  <a:srgbClr val="E8EAF2"/>
                </a:solidFill>
                <a:latin typeface="Segoe UI"/>
              </a:rPr>
              <a:t>dark design system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Framer Motion  </a:t>
            </a:r>
            <a:r>
              <a:rPr sz="1200">
                <a:solidFill>
                  <a:srgbClr val="E8EAF2"/>
                </a:solidFill>
                <a:latin typeface="Segoe UI"/>
              </a:rPr>
              <a:t>animations &amp; confetti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Recharts  </a:t>
            </a:r>
            <a:r>
              <a:rPr sz="1200">
                <a:solidFill>
                  <a:srgbClr val="E8EAF2"/>
                </a:solidFill>
                <a:latin typeface="Segoe UI"/>
              </a:rPr>
              <a:t>manager &amp; department charts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Zustand  </a:t>
            </a:r>
            <a:r>
              <a:rPr sz="1200">
                <a:solidFill>
                  <a:srgbClr val="E8EAF2"/>
                </a:solidFill>
                <a:latin typeface="Segoe UI"/>
              </a:rPr>
              <a:t>identity + workflow state (persisted)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7C5CFF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PapaParse  </a:t>
            </a:r>
            <a:r>
              <a:rPr sz="1200">
                <a:solidFill>
                  <a:srgbClr val="E8EAF2"/>
                </a:solidFill>
                <a:latin typeface="Segoe UI"/>
              </a:rPr>
              <a:t>CSV parsing in the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63240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DESIGN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0332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Precompute, don't recompute  </a:t>
            </a:r>
            <a:r>
              <a:rPr sz="1200">
                <a:solidFill>
                  <a:srgbClr val="E8EAF2"/>
                </a:solidFill>
                <a:latin typeface="Segoe UI"/>
              </a:rPr>
              <a:t>170k rows scored once, offline.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Two zustand stores  </a:t>
            </a:r>
            <a:r>
              <a:rPr sz="1200">
                <a:solidFill>
                  <a:srgbClr val="E8EAF2"/>
                </a:solidFill>
                <a:latin typeface="Segoe UI"/>
              </a:rPr>
              <a:t>identity.v1 + workflow.v2, localStorage-persisted.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backend needed  </a:t>
            </a:r>
            <a:r>
              <a:rPr sz="1200">
                <a:solidFill>
                  <a:srgbClr val="E8EAF2"/>
                </a:solidFill>
                <a:latin typeface="Segoe UI"/>
              </a:rPr>
              <a:t>fully client-side; deploys as static files.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Deterministic everything  </a:t>
            </a:r>
            <a:r>
              <a:rPr sz="1200">
                <a:solidFill>
                  <a:srgbClr val="E8EAF2"/>
                </a:solidFill>
                <a:latin typeface="Segoe UI"/>
              </a:rPr>
              <a:t>PINs, coach insights, thresholds — reproducible.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5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00" b="1">
                <a:solidFill>
                  <a:srgbClr val="FFFFFF"/>
                </a:solidFill>
                <a:latin typeface="Segoe UI"/>
              </a:rPr>
              <a:t>Real actor crediting  </a:t>
            </a:r>
            <a:r>
              <a:rPr sz="1200">
                <a:solidFill>
                  <a:srgbClr val="E8EAF2"/>
                </a:solidFill>
                <a:latin typeface="Segoe UI"/>
              </a:rPr>
              <a:t>XP maps to the true person &amp; department.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From Activity Log to Behaviour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7498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Rewards the right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6858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Outcomes and hand-offs score; noise and edits don't. The game can't push people to game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88336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88336"/>
            <a:ext cx="82296" cy="7498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5CFF"/>
                </a:solidFill>
                <a:latin typeface="Segoe UI"/>
              </a:rPr>
              <a:t>Fair to every 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79776"/>
            <a:ext cx="6858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Per-department ladders mean a 3-person PDI team competes as hard as 241 in Sales.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47872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47872"/>
            <a:ext cx="82296" cy="749808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47872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C53D"/>
                </a:solidFill>
                <a:latin typeface="Segoe UI"/>
              </a:rPr>
              <a:t>Collaboration is structural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39312"/>
            <a:ext cx="6858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Team bonuses make helping another department the fastest way to earn — 1,508 already paid.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07408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07408"/>
            <a:ext cx="82296" cy="7498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8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Actually built &amp; playable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98848"/>
            <a:ext cx="6858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Not slides — a 16-screen app running on real data, plus a full buy/sell marketplace.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66944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66944"/>
            <a:ext cx="82296" cy="74980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66944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E6A6"/>
                </a:solidFill>
                <a:latin typeface="Segoe UI"/>
              </a:rPr>
              <a:t>Sustainable for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58383"/>
            <a:ext cx="6858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Once-per-booking + whitelist keeps the economy stable; missions &amp; seasons refresh engagement.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486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9CB6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DealerVerse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02152" cy="548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3136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B0E1A"/>
                </a:solidFill>
                <a:latin typeface="Segoe UI"/>
              </a:rPr>
              <a:t>Now — 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090672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7 depts gamified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≤20-action XP engine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Ranks, missions, badges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Full C2B2C loop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PIN login, 16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28800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28800"/>
            <a:ext cx="3502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828800"/>
            <a:ext cx="3136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B0E1A"/>
                </a:solidFill>
                <a:latin typeface="Segoe UI"/>
              </a:rPr>
              <a:t>Next — Live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606040"/>
            <a:ext cx="3090672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Stream events in real time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Branch-vs-branch leagues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Weekly 'boss battle' challenges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Manager reward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7" y="1828800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7" y="1828800"/>
            <a:ext cx="3502152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1828800"/>
            <a:ext cx="3136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B0E1A"/>
                </a:solidFill>
                <a:latin typeface="Segoe UI"/>
              </a:rPr>
              <a:t>Later —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06040"/>
            <a:ext cx="3090672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Multi-dealer tenancy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Mobile app + push streaks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Configurable scoring per group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—  </a:t>
            </a:r>
            <a:r>
              <a:rPr sz="1250">
                <a:solidFill>
                  <a:srgbClr val="E8EAF2"/>
                </a:solidFill>
                <a:latin typeface="Segoe UI"/>
              </a:rPr>
              <a:t>Analytics &amp; churn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78BFA"/>
                </a:solidFill>
                <a:latin typeface="Segoe UI"/>
              </a:rPr>
              <a:t>The scoring engine is a whitelist + weights table — new milestones or seasons are a config change, not a rebuild.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3716000" cy="8686800"/>
          </a:xfrm>
          <a:prstGeom prst="rect">
            <a:avLst/>
          </a:prstGeom>
          <a:solidFill>
            <a:srgbClr val="10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DEMO IT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69CB6"/>
                </a:solidFill>
                <a:latin typeface="Segoe UI"/>
              </a:rPr>
              <a:t>DealerVerse AI — real dealership work, turned into a game people want to 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RUN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EAF2"/>
                </a:solidFill>
                <a:latin typeface="Consolas"/>
              </a:rPr>
              <a:t>cd dealerverse-ai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EAF2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969CB6"/>
                </a:solidFill>
                <a:latin typeface="Consolas"/>
              </a:rPr>
              <a:t>npm run data     # build JSON (once)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EAF2"/>
                </a:solidFill>
                <a:latin typeface="Consolas"/>
              </a:rPr>
              <a:t>npm run dev      # open the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56616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171C30"/>
          </a:solidFill>
          <a:ln w="12700">
            <a:solidFill>
              <a:srgbClr val="2A3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74903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SAMPLE LOGINS  (dept · PIN)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245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Sales · AJEYA GOWDA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42245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53D"/>
                </a:solidFill>
                <a:latin typeface="Consolas"/>
              </a:rPr>
              <a:t>9183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0857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Finance · SANTOSH K SHETTY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4608576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53D"/>
                </a:solidFill>
                <a:latin typeface="Consolas"/>
              </a:rPr>
              <a:t>3596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992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PDI · MANOJ KUMAR B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992624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53D"/>
                </a:solidFill>
                <a:latin typeface="Consolas"/>
              </a:rPr>
              <a:t>9774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3766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F2"/>
                </a:solidFill>
                <a:latin typeface="Segoe UI"/>
              </a:rPr>
              <a:t>Accounts · JYOTHILAKSHMI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537667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53D"/>
                </a:solidFill>
                <a:latin typeface="Consolas"/>
              </a:rPr>
              <a:t>6064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7424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69CB6"/>
                </a:solidFill>
                <a:latin typeface="Segoe UI"/>
              </a:rPr>
              <a:t>Or log in as a Buyer / Seller to try the marketplace.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69CB6"/>
                </a:solidFill>
                <a:latin typeface="Segoe UI"/>
              </a:rPr>
              <a:t>CarVerse Dealership Gamification Hackathon  ·  Built on 170,162 real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